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96C0F-9F62-1F57-8B55-CAE4E3FDC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EE36A-1F52-270F-A252-1F5C56342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665A3-7B33-B33E-22F5-1CCE7584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A8C5C-26FD-D904-1EE0-DC6EB6BFA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BE74D-CFCF-FE6E-4B2D-8136E571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330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671-0E47-F5BB-29B9-D2C4F08A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EC93F-CEC0-9899-9E3B-23D27FF4C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A586D-C0FD-BD19-F9BF-B9271E53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EF595-14BA-98A3-913D-6FA5A27F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431D8-1D30-2E09-F38E-79B34E7D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506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7DDE-76AB-DF1F-346D-17136B72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A1443-8C1F-36F8-BC51-17ABE9C65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FE6D7-1A2A-3A9C-754C-8D6F6E1B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BCDCC-10B0-73D6-74D2-A1A1392F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2A4EE-914E-96EB-4946-ED414439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472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9418-ABE8-FA82-06E9-5B507649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D75DE-C0D0-E804-5B65-728ED1B70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2396A-CC82-0C8C-1CA7-97CDD1B75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9EFC9-A70D-58DD-5E42-F1152C32B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3FF82-55F5-75DF-182F-B988A041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A66E9-958F-A4E0-23A5-94B041E1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48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AA5A-218F-3E8D-355E-4AF47A22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C50BE-86AA-6238-1504-D43440D92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D4D94-A7C1-B8B3-0FC8-3D53F6B2F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7B406-C23D-A78F-FF2F-ADDCF7BD1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D8CB3-E0C6-308F-7FBE-68E2D3E82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74D10-107C-3176-CF38-2F44B2809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AF685-DD0E-EB18-4A61-E63F3D56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812CA-41A6-C74D-0980-C07C22E3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718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456E-CBA3-4C9C-124F-E8C3E235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45480-5755-BE23-2669-69F95E51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21D5B-A0E3-1A2B-1CE0-EFFA3E2C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1660F-0429-1181-BDA3-CB57A011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371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CC1E1-41A1-1E2A-CE65-1135249D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40EAB-CE92-839C-41DA-38C0728D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17452-E86C-7CBD-0251-564A36E7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525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DCEE-8D54-4C2F-ADDB-8065A53FC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2FCE8-666D-8B4F-8FE1-888C5A23F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D4783-76A6-C633-6355-A5044A1E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1A88E-D21B-331E-FCE8-00FD23C3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3988D-C85F-68F4-5B36-236C0221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4FFC6-69AE-F8B9-1D14-6F1ED7B4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753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6454-3E66-5382-3CA2-C3447DCF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A8C123-EE2B-0243-A60F-213EBD70F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3EE25-EF56-BE33-D88C-03AE16DD1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9D4C5-E628-C6F1-6B67-9BF13717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9AE86-D7B3-9203-98AD-5D4AB3DF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1232A-D932-4E3F-E468-4322CE83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71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C61C-EDFD-ADAD-698B-3054302B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1A821-C90C-1D77-9F33-48A463316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1D7E7-8A52-D63B-C516-FA56DC18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5CB8E-E991-ED41-A2D8-FFDD14A2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3F6F-14E3-5AA2-C8B1-00AFA5FC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28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194A3-8154-2971-C934-DDBDFDFC5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4691E-3BE9-52CA-4DDF-AB29FF5B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81330-6840-06CB-FA52-8B51B990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E058-1532-CF89-17C2-679B3473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10384-5A85-AE97-9AA8-190DF5A3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141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F6017-718D-785A-D871-16FD3AA1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A0788-BDEA-E119-29B6-097E827BD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EFEFC-13D5-3C1B-F254-74699A8E6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21D5F-197F-4D00-8FF0-D66A1CBBC03F}" type="datetimeFigureOut">
              <a:rPr lang="en-ZA" smtClean="0"/>
              <a:t>2026/05/28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13FC-CD4E-652D-5FB4-AC8E3C402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AB6AB-36FF-4813-7B96-ABD114278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503BB-C958-46A9-B500-7822E9C5AED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667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79A4-E3B8-39D6-6710-9D89349BEB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Cybersecurity Awareness </a:t>
            </a:r>
            <a:r>
              <a:rPr lang="en-ZA" dirty="0" err="1"/>
              <a:t>ChatBot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1C5B6-6BE9-9763-4ABF-386334879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Presented by Boikanyo Maleka</a:t>
            </a:r>
          </a:p>
          <a:p>
            <a:r>
              <a:rPr lang="en-ZA" dirty="0"/>
              <a:t>Student Number: 10472664</a:t>
            </a:r>
          </a:p>
          <a:p>
            <a:r>
              <a:rPr lang="en-ZA" dirty="0"/>
              <a:t>Date: 29 May 2026</a:t>
            </a:r>
          </a:p>
        </p:txBody>
      </p:sp>
    </p:spTree>
    <p:extLst>
      <p:ext uri="{BB962C8B-B14F-4D97-AF65-F5344CB8AC3E}">
        <p14:creationId xmlns:p14="http://schemas.microsoft.com/office/powerpoint/2010/main" val="114577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3586-ADEE-0554-0A15-DB8CB97B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Initialization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5EE71-53B9-C82F-0F2F-2CE2DD25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en-US" b="1" dirty="0" err="1"/>
              <a:t>MainWindow</a:t>
            </a:r>
            <a:r>
              <a:rPr lang="en-US" b="1" dirty="0"/>
              <a:t>():</a:t>
            </a:r>
            <a:r>
              <a:rPr lang="en-US" dirty="0"/>
              <a:t> Constructor that initializes speech synthesis, creates the chatbot instance, and triggers setup routines</a:t>
            </a:r>
          </a:p>
          <a:p>
            <a:r>
              <a:rPr lang="en-US" dirty="0"/>
              <a:t> </a:t>
            </a:r>
            <a:r>
              <a:rPr lang="en-US" b="1" dirty="0" err="1"/>
              <a:t>SetAsciiArt</a:t>
            </a:r>
            <a:r>
              <a:rPr lang="en-US" b="1" dirty="0"/>
              <a:t>():</a:t>
            </a:r>
            <a:r>
              <a:rPr lang="en-US" dirty="0"/>
              <a:t> Loads the terminal-style cybersecurity logo into the header</a:t>
            </a:r>
          </a:p>
          <a:p>
            <a:r>
              <a:rPr lang="en-US" dirty="0"/>
              <a:t> </a:t>
            </a:r>
            <a:r>
              <a:rPr lang="en-US" dirty="0" err="1"/>
              <a:t>TextBlock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 err="1"/>
              <a:t>WelcomeMessage</a:t>
            </a:r>
            <a:r>
              <a:rPr lang="en-US" b="1" dirty="0"/>
              <a:t>():</a:t>
            </a:r>
            <a:r>
              <a:rPr lang="en-US" dirty="0"/>
              <a:t> Plays the opening voice greeting and displays the introductory prompt in the chat window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64882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41B5-FB2E-E397-4EE7-022F0255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Input and Event Handlers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3015F-7FCF-902F-0AF2-C73F4810C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Capturing User Actions</a:t>
            </a:r>
          </a:p>
          <a:p>
            <a:r>
              <a:rPr lang="en-US" dirty="0"/>
              <a:t> </a:t>
            </a:r>
            <a:r>
              <a:rPr lang="en-US" b="1" dirty="0" err="1"/>
              <a:t>txtMessage_KeyDown</a:t>
            </a:r>
            <a:r>
              <a:rPr lang="en-US" b="1" dirty="0"/>
              <a:t>():</a:t>
            </a:r>
            <a:r>
              <a:rPr lang="en-US" dirty="0"/>
              <a:t> Listens for the Enter key to trigger message submission without requiring a mouse click</a:t>
            </a:r>
          </a:p>
          <a:p>
            <a:r>
              <a:rPr lang="en-US" b="1" dirty="0" err="1"/>
              <a:t>SendButton_Click</a:t>
            </a:r>
            <a:r>
              <a:rPr lang="en-US" b="1" dirty="0"/>
              <a:t>():</a:t>
            </a:r>
            <a:r>
              <a:rPr lang="en-US" dirty="0"/>
              <a:t> Handles direct mouse clicks on the Send button</a:t>
            </a:r>
          </a:p>
          <a:p>
            <a:r>
              <a:rPr lang="en-US" dirty="0"/>
              <a:t> </a:t>
            </a:r>
            <a:r>
              <a:rPr lang="en-US" b="1" dirty="0" err="1"/>
              <a:t>SendMessage</a:t>
            </a:r>
            <a:r>
              <a:rPr lang="en-US" b="1" dirty="0"/>
              <a:t>():</a:t>
            </a:r>
            <a:r>
              <a:rPr lang="en-US" dirty="0"/>
              <a:t> Central input processor; validates text, clears the input box, routes to the logic engine, updates the chat display, and triggers voice playback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974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55ED-89AA-7583-0017-8E3CAF32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Response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9B951-9589-9459-1B23-65949E3CB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Decision Hub</a:t>
            </a:r>
          </a:p>
          <a:p>
            <a:r>
              <a:rPr lang="en-US" dirty="0"/>
              <a:t> </a:t>
            </a:r>
            <a:r>
              <a:rPr lang="en-US" b="1" dirty="0" err="1"/>
              <a:t>GetResponse</a:t>
            </a:r>
            <a:r>
              <a:rPr lang="en-US" b="1" dirty="0"/>
              <a:t>():</a:t>
            </a:r>
            <a:r>
              <a:rPr lang="en-US" dirty="0"/>
              <a:t> Main orchestrator in the Chatbot class</a:t>
            </a:r>
          </a:p>
          <a:p>
            <a:r>
              <a:rPr lang="en-US" dirty="0"/>
              <a:t> Validates input isn't empty, checks if it's the user's first message to store their name, and routes text to sentiment and keyword detectors </a:t>
            </a:r>
          </a:p>
          <a:p>
            <a:r>
              <a:rPr lang="en-US" dirty="0"/>
              <a:t> Returns a finalized, context-aware response back to the UI layer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7516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F323-61B4-6CAD-4B39-4DFA1784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Keyword and Topic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68CA-D147-1872-B75B-0B7E7C3E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b="1" dirty="0"/>
              <a:t>Identifying Cybersecurity Topics</a:t>
            </a:r>
            <a:r>
              <a:rPr lang="en-ZA" dirty="0"/>
              <a:t> </a:t>
            </a:r>
          </a:p>
          <a:p>
            <a:r>
              <a:rPr lang="en-ZA" dirty="0"/>
              <a:t> </a:t>
            </a:r>
            <a:r>
              <a:rPr lang="en-ZA" b="1" dirty="0" err="1"/>
              <a:t>FindKeywordResponse</a:t>
            </a:r>
            <a:r>
              <a:rPr lang="en-ZA" b="1" dirty="0"/>
              <a:t>():</a:t>
            </a:r>
            <a:r>
              <a:rPr lang="en-ZA" dirty="0"/>
              <a:t> Scans user input against a dictionary of predefined topics (passwords, scams, phishing, privacy, security, malware) </a:t>
            </a:r>
          </a:p>
          <a:p>
            <a:r>
              <a:rPr lang="en-ZA" dirty="0"/>
              <a:t> Uses case-insensitive matching so capitalization doesn't break recognition </a:t>
            </a:r>
          </a:p>
          <a:p>
            <a:r>
              <a:rPr lang="en-ZA" dirty="0"/>
              <a:t>Randomly selects from multiple pre-written tips per keyword to keep conversations varied </a:t>
            </a:r>
          </a:p>
          <a:p>
            <a:r>
              <a:rPr lang="en-ZA" dirty="0"/>
              <a:t>Updates the active topic context for follow-up handling</a:t>
            </a:r>
          </a:p>
        </p:txBody>
      </p:sp>
    </p:spTree>
    <p:extLst>
      <p:ext uri="{BB962C8B-B14F-4D97-AF65-F5344CB8AC3E}">
        <p14:creationId xmlns:p14="http://schemas.microsoft.com/office/powerpoint/2010/main" val="351751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8B1D-8BF5-AEAB-4FD7-21FE66A8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Sentiment Analysis and Tone Adjustment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9B02A-CF33-2DAE-04F5-467BC4930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Understanding User Emotion</a:t>
            </a:r>
            <a:r>
              <a:rPr lang="en-US" dirty="0"/>
              <a:t> </a:t>
            </a:r>
          </a:p>
          <a:p>
            <a:r>
              <a:rPr lang="en-US" b="1" dirty="0" err="1"/>
              <a:t>DetectSentiment</a:t>
            </a:r>
            <a:r>
              <a:rPr lang="en-US" b="1" dirty="0"/>
              <a:t>():</a:t>
            </a:r>
            <a:r>
              <a:rPr lang="en-US" dirty="0"/>
              <a:t> Scans for emotional trigger words like "worried," "curious," or "frustrated" and maps them to standardized categories </a:t>
            </a:r>
          </a:p>
          <a:p>
            <a:r>
              <a:rPr lang="en-US" b="1" dirty="0" err="1"/>
              <a:t>AddSentimentAdjustment</a:t>
            </a:r>
            <a:r>
              <a:rPr lang="en-US" b="1" dirty="0"/>
              <a:t>():</a:t>
            </a:r>
            <a:r>
              <a:rPr lang="en-US" dirty="0"/>
              <a:t> Wraps standard cybersecurity tips in tone-appropriate phrasing</a:t>
            </a:r>
          </a:p>
          <a:p>
            <a:r>
              <a:rPr lang="en-US" dirty="0"/>
              <a:t>Adds reassurance for concerned users, patience for frustrated users, and enthusiasm for curious users </a:t>
            </a:r>
          </a:p>
          <a:p>
            <a:r>
              <a:rPr lang="en-US" dirty="0"/>
              <a:t>Makes interactions feel empathetic rather than robotic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4997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7AA1-B778-D33A-38FA-590D349E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Conversation 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30609-0CEB-7B7A-9944-F70721725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Maintaining Context</a:t>
            </a:r>
            <a:r>
              <a:rPr lang="en-US" dirty="0"/>
              <a:t> </a:t>
            </a:r>
          </a:p>
          <a:p>
            <a:r>
              <a:rPr lang="en-US" b="1" dirty="0" err="1"/>
              <a:t>IsFollowUpQuestion</a:t>
            </a:r>
            <a:r>
              <a:rPr lang="en-US" b="1" dirty="0"/>
              <a:t>():</a:t>
            </a:r>
            <a:r>
              <a:rPr lang="en-US" dirty="0"/>
              <a:t> Detects continuation phrases like "tell me more" or "explain further“</a:t>
            </a:r>
          </a:p>
          <a:p>
            <a:r>
              <a:rPr lang="en-US" dirty="0"/>
              <a:t> </a:t>
            </a:r>
            <a:r>
              <a:rPr lang="en-US" b="1" dirty="0" err="1"/>
              <a:t>HandleFollowUp</a:t>
            </a:r>
            <a:r>
              <a:rPr lang="en-US" b="1" dirty="0"/>
              <a:t>():</a:t>
            </a:r>
            <a:r>
              <a:rPr lang="en-US" dirty="0"/>
              <a:t> Retrieves a different tip from the same active topic instead of restarting the search </a:t>
            </a:r>
          </a:p>
          <a:p>
            <a:r>
              <a:rPr lang="en-US" dirty="0"/>
              <a:t>Actively avoids repeating the exact same response to keep the dialogue fresh </a:t>
            </a:r>
          </a:p>
          <a:p>
            <a:r>
              <a:rPr lang="en-US" dirty="0"/>
              <a:t>Creates natural conversation flow instead of rigid Q&amp;A resets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5045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FB41-F55A-1D28-69AD-1B247622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Fallback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1365-C9B8-3027-D9B5-BB26595D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Graceful Error Management</a:t>
            </a:r>
            <a:r>
              <a:rPr lang="en-US" dirty="0"/>
              <a:t> </a:t>
            </a:r>
          </a:p>
          <a:p>
            <a:r>
              <a:rPr lang="en-US" b="1" dirty="0" err="1"/>
              <a:t>GetDefaultResponse</a:t>
            </a:r>
            <a:r>
              <a:rPr lang="en-US" b="1" dirty="0"/>
              <a:t>():</a:t>
            </a:r>
            <a:r>
              <a:rPr lang="en-US" dirty="0"/>
              <a:t> Activates when no keywords or follow-ups match the input </a:t>
            </a:r>
          </a:p>
          <a:p>
            <a:r>
              <a:rPr lang="en-US" dirty="0"/>
              <a:t>Acknowledges the user politely and redirects them to supported topics </a:t>
            </a:r>
          </a:p>
          <a:p>
            <a:r>
              <a:rPr lang="en-US" dirty="0"/>
              <a:t>Prevents conversation breaks and maintains engagement even with unrecognized queries</a:t>
            </a:r>
          </a:p>
          <a:p>
            <a:r>
              <a:rPr lang="en-US" dirty="0"/>
              <a:t>Ensures the bot always returns a helpful, actionable response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14144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1649-1FCA-E0CD-D302-29F5A1DD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Method Flow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DD3E0-3A36-287A-2A4F-EFC267BF8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b="1" dirty="0"/>
              <a:t>How Everything Connects</a:t>
            </a:r>
            <a:r>
              <a:rPr lang="en-ZA" dirty="0"/>
              <a:t> </a:t>
            </a:r>
          </a:p>
          <a:p>
            <a:r>
              <a:rPr lang="en-ZA" dirty="0"/>
              <a:t>User types input → Event Handler triggers → </a:t>
            </a:r>
            <a:r>
              <a:rPr lang="en-ZA" dirty="0" err="1"/>
              <a:t>SendMessage</a:t>
            </a:r>
            <a:r>
              <a:rPr lang="en-ZA" dirty="0"/>
              <a:t>() validates &amp; displays </a:t>
            </a:r>
          </a:p>
          <a:p>
            <a:r>
              <a:rPr lang="en-ZA" dirty="0" err="1"/>
              <a:t>SendMessage</a:t>
            </a:r>
            <a:r>
              <a:rPr lang="en-ZA" dirty="0"/>
              <a:t>() calls </a:t>
            </a:r>
            <a:r>
              <a:rPr lang="en-ZA" dirty="0" err="1"/>
              <a:t>GetResponse</a:t>
            </a:r>
            <a:r>
              <a:rPr lang="en-ZA" dirty="0"/>
              <a:t>() → Routes through Memory → Sentiment → Keyword Match → Follow-up Check </a:t>
            </a:r>
          </a:p>
          <a:p>
            <a:r>
              <a:rPr lang="en-ZA" dirty="0"/>
              <a:t>Final response returns to UI → Appended to chat window + spoken aloud via voice synthesis </a:t>
            </a:r>
          </a:p>
          <a:p>
            <a:r>
              <a:rPr lang="en-ZA" dirty="0"/>
              <a:t>Modular design ensures each method has one responsibility, enabling clean scaling and easy debugging</a:t>
            </a:r>
          </a:p>
        </p:txBody>
      </p:sp>
    </p:spTree>
    <p:extLst>
      <p:ext uri="{BB962C8B-B14F-4D97-AF65-F5344CB8AC3E}">
        <p14:creationId xmlns:p14="http://schemas.microsoft.com/office/powerpoint/2010/main" val="3362748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Cybersecurity Awareness ChatBot</vt:lpstr>
      <vt:lpstr>Initialization Methods</vt:lpstr>
      <vt:lpstr>Input and Event Handlers</vt:lpstr>
      <vt:lpstr>Response Engine</vt:lpstr>
      <vt:lpstr>Keyword and Topic matching</vt:lpstr>
      <vt:lpstr>Sentiment Analysis and Tone Adjustment</vt:lpstr>
      <vt:lpstr>Conversation Continuity</vt:lpstr>
      <vt:lpstr>Fallback Handling</vt:lpstr>
      <vt:lpstr>Method Flow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Boikanyo Pearl Maleka</dc:creator>
  <cp:lastModifiedBy>Boikanyo Pearl Maleka</cp:lastModifiedBy>
  <cp:revision>1</cp:revision>
  <dcterms:created xsi:type="dcterms:W3CDTF">2026-05-28T18:25:13Z</dcterms:created>
  <dcterms:modified xsi:type="dcterms:W3CDTF">2026-05-28T18:25:13Z</dcterms:modified>
</cp:coreProperties>
</file>